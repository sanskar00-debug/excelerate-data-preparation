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543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11524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0E45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PORTFOLIO &amp; REVENUE INTELLIGENCE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6517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1–3 Recap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an Interactive Dashboard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4432993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Trainee Internship  ·  Excelerate Analytics Suite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73352"/>
            <a:ext cx="777240" cy="77724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4" name="Image 0" descr="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56232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85623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— Data Preparation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2585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documentation, and a reliable foundation dataset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651760"/>
            <a:ext cx="1024128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816352"/>
            <a:ext cx="777240" cy="77724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10" name="Image 1" descr="icons/bar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9923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691640" y="299923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— Exploratory Analysis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34015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patterns, and an honest look at data limitations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31520" y="3794760"/>
            <a:ext cx="1024128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959352"/>
            <a:ext cx="777240" cy="77724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16" name="Image 2" descr="icons/monito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4223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3886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414223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— Interactive Dashboard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1691640" y="45445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analysis into a live, filterable executive view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31520" y="4937760"/>
            <a:ext cx="1024128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5102352"/>
            <a:ext cx="777240" cy="77724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22" name="Image 3" descr="icons/fla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28523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91640" y="5029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691640" y="528523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&amp; Next Steps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1691640" y="56875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improve, and where this goes from here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11 · Data Visualization Trainee Internship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3D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01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AF9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0136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5,733 → 5,674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(raw → cleaned)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07208" y="16002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AF9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98648" y="180136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→ 45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26517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(raw → cleaned)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74336" y="16002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AF9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65776" y="180136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065776" y="26517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Corrupted/unusable records removed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cleaning actions</a:t>
            </a:r>
            <a:endParaRPr lang="en-US" sz="1600" dirty="0"/>
          </a:p>
        </p:txBody>
      </p:sp>
      <p:pic>
        <p:nvPicPr>
          <p:cNvPr id="15" name="Image 0" descr="icons/check_2A9D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96512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60120" y="400507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timestamps from raw Unix milliseconds to readable dates</a:t>
            </a:r>
            <a:endParaRPr lang="en-US" sz="1250" dirty="0"/>
          </a:p>
        </p:txBody>
      </p:sp>
      <p:pic>
        <p:nvPicPr>
          <p:cNvPr id="17" name="Image 1" descr="icons/check_2A9D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0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60120" y="44805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duration into one unit (duration_standard_days)</a:t>
            </a:r>
            <a:endParaRPr lang="en-US" sz="1250" dirty="0"/>
          </a:p>
        </p:txBody>
      </p:sp>
      <p:pic>
        <p:nvPicPr>
          <p:cNvPr id="19" name="Image 2" descr="icons/check_2A9D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4748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60120" y="495604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10 nested JSON fields into clean reference IDs</a:t>
            </a:r>
            <a:endParaRPr lang="en-US" sz="1250" dirty="0"/>
          </a:p>
        </p:txBody>
      </p:sp>
      <p:pic>
        <p:nvPicPr>
          <p:cNvPr id="21" name="Image 3" descr="icons/check_2A9D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522976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60120" y="5431536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currency and location labels; removed corrupted rows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01675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an analysis-ready dataset — standardized, structured, and prepared for Week 2 EDA &amp; dashboards.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223760" y="1600200"/>
            <a:ext cx="4297680" cy="4572000"/>
          </a:xfrm>
          <a:prstGeom prst="roundRect">
            <a:avLst>
              <a:gd name="adj" fmla="val 2128"/>
            </a:avLst>
          </a:prstGeom>
          <a:solidFill>
            <a:srgbClr val="0B3D3A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54380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7543800" y="251460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7" name="Image 4" descr="icons/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2633472"/>
            <a:ext cx="265176" cy="26517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183880" y="24780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18388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fields documented end-to-end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543800" y="356616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1" name="Image 5" descr="icons/branc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3685032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183880" y="35295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Documentation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18388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transformation explained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543800" y="461772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5" name="Image 6" descr="icons/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2" y="4736592"/>
            <a:ext cx="265176" cy="26517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183880" y="458114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Charter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8183880" y="4892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norms, and workflow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11 · Data Visualization Trainee Internship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3D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01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required analyses, plus 7 supplementary deep-dives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AF9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202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trends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AF9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19202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by location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AF9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19202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channel performance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0" y="192024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AF9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06840" y="19202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distribution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findings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72160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7" name="Image 0" descr="icons/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822192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36850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posting cycle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405079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spike around academic intake windows (Jul, Oct/Nov, Feb/Mar), not a steady stream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26480" y="35204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27648" y="372160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2" name="Image 1" descr="icons/doll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3822192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49440" y="36850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 near-universal scholarship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6949440" y="405079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86.2% of opportunities carry the same token scholarship amount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40080" y="5120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41248" y="532180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7" name="Image 2" descr="icons/targ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422392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52852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210-day duration template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1463040" y="565099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programs cluster around a ~7-month standard length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126480" y="5120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27648" y="532180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2" name="Image 3" descr="icons/trenddow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542239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49440" y="52852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↔ Reward correlation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6949440" y="565099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-0.48 — shorter opportunities are more likely to carry a reward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11 · Data Visualization Trainee Internship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840480"/>
            <a:ext cx="4023360" cy="4023360"/>
          </a:xfrm>
          <a:prstGeom prst="ellipse">
            <a:avLst/>
          </a:prstGeom>
          <a:solidFill>
            <a:srgbClr val="11524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85800"/>
            <a:ext cx="731520" cy="7315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4" name="Image 0" descr="icons/ale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8229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71323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data couldn't take us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83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four required Week 2 analyses couldn't be completed as originally scoped — and we chose to document that gap rather than fabricate a result.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5166360" cy="2286000"/>
          </a:xfrm>
          <a:prstGeom prst="roundRect">
            <a:avLst>
              <a:gd name="adj" fmla="val 4000"/>
            </a:avLst>
          </a:prstGeom>
          <a:solidFill>
            <a:srgbClr val="11524C"/>
          </a:solidFill>
          <a:ln/>
        </p:spPr>
      </p:sp>
      <p:sp>
        <p:nvSpPr>
          <p:cNvPr id="8" name="Shape 5"/>
          <p:cNvSpPr/>
          <p:nvPr/>
        </p:nvSpPr>
        <p:spPr>
          <a:xfrm>
            <a:off x="1005840" y="3017520"/>
            <a:ext cx="548640" cy="5486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9" name="Image 1" descr="icons/mappi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314553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37033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by Location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005840" y="41605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is opportunity-level, not applicant-level — there is no field recording where applicants are based.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2743200"/>
            <a:ext cx="5166360" cy="2286000"/>
          </a:xfrm>
          <a:prstGeom prst="roundRect">
            <a:avLst>
              <a:gd name="adj" fmla="val 4000"/>
            </a:avLst>
          </a:prstGeom>
          <a:solidFill>
            <a:srgbClr val="11524C"/>
          </a:solidFill>
          <a:ln/>
        </p:spPr>
      </p:sp>
      <p:sp>
        <p:nvSpPr>
          <p:cNvPr id="13" name="Shape 9"/>
          <p:cNvSpPr/>
          <p:nvPr/>
        </p:nvSpPr>
        <p:spPr>
          <a:xfrm>
            <a:off x="6446520" y="3017520"/>
            <a:ext cx="548640" cy="5486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4" name="Image 2" descr="icons/branc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314553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46520" y="37033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Channel Performance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46520" y="41605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tracks acquisition channel. We can show posting delivery format (Virtual/WFH), but not how applicants found us.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11 · Data Visualization Trainee Internship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3D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01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Interactive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949440" cy="4663440"/>
          </a:xfrm>
          <a:prstGeom prst="roundRect">
            <a:avLst>
              <a:gd name="adj" fmla="val 1569"/>
            </a:avLst>
          </a:prstGeom>
          <a:solidFill>
            <a:srgbClr val="FAF9F6"/>
          </a:solidFill>
          <a:ln w="19050">
            <a:solidFill>
              <a:srgbClr val="D9D3C8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786384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863840" y="1965960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138160" y="18379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 + 6 visuals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21488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 KPIs → middle grid (operational dynamics) → bottom grid (qualitative concentrations)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63840" y="2880360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138160" y="27523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3063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cleaned_opportunities.csv, built in Tableau Public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63840" y="3794760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138160" y="36667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3977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(Inclusive) · Location (Exclusive) · Values (Inclusive)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863840" y="475488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AF9F6"/>
          </a:solidFill>
          <a:ln/>
        </p:spPr>
      </p:sp>
      <p:pic>
        <p:nvPicPr>
          <p:cNvPr id="20" name="Image 1" descr="icons/alert_FF6B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4892040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430768" y="4837176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cross-visual highlight actions yet — flagged for a future iteration.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11 · Data Visualization Trainee Internship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508761"/>
            <a:ext cx="69494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 Visuals — Quick Reference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3D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898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Creation Trajectory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3898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 peaks &amp; drops — reactive, not planned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088136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671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by Delivery Format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16712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WFH (2,330) + Virtual (1,897) dominate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1088136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3D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94436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Split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94436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3.70% · Engagement 6.13% · Competitions 28.97% automated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1088136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49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72160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Track Density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372160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 27.61% · Career 19.09%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1088136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526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3D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4988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Structural Scatter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449884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programs = higher fees (up to $1,000); long = mostly free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166360"/>
            <a:ext cx="1088136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303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27608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Track Mix Profile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52760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track composition alongside Visual 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11 · Data Visualization Trainee Internship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3D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01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Dashboard Insights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74.6%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 Work From Home or Virtual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50876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86.2%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23317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opportunities carry scholarship coverage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150876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79.0%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3317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opportunities are $0 tuition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1088136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3375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0B3D3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685032"/>
            <a:ext cx="731520" cy="7315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4" name="Image 0" descr="icons/trenddow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849624"/>
            <a:ext cx="402336" cy="40233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874520" y="35204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 finding: shorter programs cost more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874520" y="3904488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fees (up to $1,000) cluster among programs under 30 days — not long-duration ones. 200–320 day programs average under $3 (r = -0.10, weak negative).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mix: Internship (27.6%) and Career (19.1%) lead the portfolio — together, roughly half of all listings.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11 · Data Visualization Trainee Internship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Risks &amp; Operational Bottlenecks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workload by category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017520" y="1911096"/>
            <a:ext cx="2651760" cy="182880"/>
          </a:xfrm>
          <a:prstGeom prst="rect">
            <a:avLst/>
          </a:prstGeom>
          <a:solidFill>
            <a:srgbClr val="ECEAE4"/>
          </a:solidFill>
          <a:ln/>
        </p:spPr>
      </p:sp>
      <p:sp>
        <p:nvSpPr>
          <p:cNvPr id="6" name="Shape 4"/>
          <p:cNvSpPr/>
          <p:nvPr/>
        </p:nvSpPr>
        <p:spPr>
          <a:xfrm>
            <a:off x="3017520" y="1911096"/>
            <a:ext cx="2553645" cy="18288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06440" y="183794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96.30%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17520" y="2368296"/>
            <a:ext cx="2651760" cy="182880"/>
          </a:xfrm>
          <a:prstGeom prst="rect">
            <a:avLst/>
          </a:prstGeom>
          <a:solidFill>
            <a:srgbClr val="ECEAE4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2368296"/>
            <a:ext cx="2489207" cy="18288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06440" y="229514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93.87%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Simulations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17520" y="2825496"/>
            <a:ext cx="2651760" cy="182880"/>
          </a:xfrm>
          <a:prstGeom prst="rect">
            <a:avLst/>
          </a:prstGeom>
          <a:solidFill>
            <a:srgbClr val="ECE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3017520" y="2825496"/>
            <a:ext cx="2464281" cy="18288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06440" y="275234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92.93%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Masterclasses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017520" y="3282696"/>
            <a:ext cx="2651760" cy="182880"/>
          </a:xfrm>
          <a:prstGeom prst="rect">
            <a:avLst/>
          </a:prstGeom>
          <a:solidFill>
            <a:srgbClr val="ECEAE4"/>
          </a:solidFill>
          <a:ln/>
        </p:spPr>
      </p:sp>
      <p:sp>
        <p:nvSpPr>
          <p:cNvPr id="18" name="Shape 16"/>
          <p:cNvSpPr/>
          <p:nvPr/>
        </p:nvSpPr>
        <p:spPr>
          <a:xfrm>
            <a:off x="3017520" y="3282696"/>
            <a:ext cx="2392683" cy="18288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06440" y="320954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90.23%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Competitions (best, still low)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017520" y="3739896"/>
            <a:ext cx="2651760" cy="182880"/>
          </a:xfrm>
          <a:prstGeom prst="rect">
            <a:avLst/>
          </a:prstGeom>
          <a:solidFill>
            <a:srgbClr val="ECEAE4"/>
          </a:solidFill>
          <a:ln/>
        </p:spPr>
      </p:sp>
      <p:sp>
        <p:nvSpPr>
          <p:cNvPr id="22" name="Shape 20"/>
          <p:cNvSpPr/>
          <p:nvPr/>
        </p:nvSpPr>
        <p:spPr>
          <a:xfrm>
            <a:off x="3017520" y="3739896"/>
            <a:ext cx="1883545" cy="18288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806440" y="366674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71.03%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251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manual (not automated) — even the best category is still mostly manual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49440" y="1371600"/>
            <a:ext cx="4617720" cy="4754880"/>
          </a:xfrm>
          <a:prstGeom prst="roundRect">
            <a:avLst>
              <a:gd name="adj" fmla="val 1980"/>
            </a:avLst>
          </a:prstGeom>
          <a:solidFill>
            <a:srgbClr val="0B3D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69480" y="16459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Risks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269480" y="228600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8" name="Image 0" descr="icons/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2404872"/>
            <a:ext cx="265176" cy="265176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7909560" y="224942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Volatility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7909560" y="256032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 creation cycle suggests reactive, not planned, development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269480" y="347472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2" name="Image 1" descr="icons/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3593592"/>
            <a:ext cx="265176" cy="265176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7909560" y="34381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Underutilized Automation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7909560" y="374904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High-touch categories are missing clear streamlining opportunities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7269480" y="466344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6" name="Image 2" descr="icons/mappi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4782312"/>
            <a:ext cx="265176" cy="265176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909560" y="462686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Applicant-Level Data</a:t>
            </a:r>
            <a:endParaRPr lang="en-US" sz="1350" dirty="0"/>
          </a:p>
        </p:txBody>
      </p:sp>
      <p:sp>
        <p:nvSpPr>
          <p:cNvPr id="38" name="Text 33"/>
          <p:cNvSpPr txBox="1"/>
          <p:nvPr/>
        </p:nvSpPr>
        <p:spPr>
          <a:xfrm>
            <a:off x="7909560" y="493776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cannot yet be confirmed to match supply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11 · Data Visualization Trainee Internship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Data Quality Decisions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exclusion we made was deliberate — and documented, not hidden.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AF9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6" name="Image 0" descr="icons/ale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848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rows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432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rows had JSON fragments spilled into the wrong columns — isolated and removed.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AF9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103120"/>
            <a:ext cx="548640" cy="54864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11" name="Image 1" descr="icons/mappi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240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0848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test text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7432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location values (e.g. lorem-ipsum strings) flagged rather than silently counted as real data.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AF9F6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51960"/>
            <a:ext cx="548640" cy="54864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16" name="Image 2" descr="icons/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389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233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units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48920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units (week/weeks, month/months) and currency labels (EUR/EURO) standardized.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AF9F6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251960"/>
            <a:ext cx="548640" cy="54864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21" name="Image 3" descr="icons/lay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389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233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categories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46520" y="48920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Xploreu (4 records) excluded from dashboard metrics, with a visible footnote explaining why.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11 · Data Visualization Trainee Internship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Strategic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the program sponsor, based on dashboard findings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0B3D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&amp; Scalability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months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3017520" cy="0"/>
          </a:xfrm>
          <a:prstGeom prst="line">
            <a:avLst/>
          </a:prstGeom>
          <a:noFill/>
          <a:ln w="12700">
            <a:solidFill>
              <a:srgbClr val="2E5C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84448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4290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Career &amp; Engagement tracks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297680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14223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automated grading, self-paced modules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5010912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855464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enrollment notifications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169164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FAF9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2402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Optimization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337560"/>
            <a:ext cx="3017520" cy="0"/>
          </a:xfrm>
          <a:prstGeom prst="line">
            <a:avLst/>
          </a:prstGeom>
          <a:noFill/>
          <a:ln w="12700">
            <a:solidFill>
              <a:srgbClr val="E6E0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584448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34290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standardized quarterly release schedule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297680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414223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top virtual programs into flexible, async formats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69164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FAF9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22402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&amp; Resource Reallocation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months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3337560"/>
            <a:ext cx="3017520" cy="0"/>
          </a:xfrm>
          <a:prstGeom prst="line">
            <a:avLst/>
          </a:prstGeom>
          <a:noFill/>
          <a:ln w="12700">
            <a:solidFill>
              <a:srgbClr val="E6E0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3584448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41080" y="34290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subsidies toward tracks with clear professional outcomes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12480" y="4297680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641080" y="414223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short-form, higher-fee offerings to fund the 79% free programs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11 · Data Visualization Trainee Internship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10714"/>
            </a:avLst>
          </a:prstGeom>
          <a:solidFill>
            <a:srgbClr val="1152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508760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0876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508760"/>
            <a:ext cx="7223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5,669 listings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130552"/>
            <a:ext cx="10698480" cy="512064"/>
          </a:xfrm>
          <a:prstGeom prst="roundRect">
            <a:avLst>
              <a:gd name="adj" fmla="val 10714"/>
            </a:avLst>
          </a:prstGeom>
          <a:solidFill>
            <a:srgbClr val="1152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305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130552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130552"/>
            <a:ext cx="7223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free, $120 average subsidy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752344"/>
            <a:ext cx="10698480" cy="512064"/>
          </a:xfrm>
          <a:prstGeom prst="roundRect">
            <a:avLst>
              <a:gd name="adj" fmla="val 10714"/>
            </a:avLst>
          </a:prstGeom>
          <a:solidFill>
            <a:srgbClr val="1152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752344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75234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752344"/>
            <a:ext cx="7223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74.6% digital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374136"/>
            <a:ext cx="10698480" cy="512064"/>
          </a:xfrm>
          <a:prstGeom prst="roundRect">
            <a:avLst>
              <a:gd name="adj" fmla="val 10714"/>
            </a:avLst>
          </a:prstGeom>
          <a:solidFill>
            <a:srgbClr val="1152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374136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37413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374136"/>
            <a:ext cx="7223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workflows blocking scale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3995928"/>
            <a:ext cx="10698480" cy="512064"/>
          </a:xfrm>
          <a:prstGeom prst="roundRect">
            <a:avLst>
              <a:gd name="adj" fmla="val 10714"/>
            </a:avLst>
          </a:prstGeom>
          <a:solidFill>
            <a:srgbClr val="1152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3995928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99592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3995928"/>
            <a:ext cx="7223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Volatile, reactive timeline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1520" y="480060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6B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" y="480060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Automate high-volume tracks → stabilize release cycle → monetize short-form premium offerings.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11 · Data Visualization Trainee Internship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 &amp; Team Process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split the 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5" name="Image 0" descr="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39112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892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Coordination, QA, and final review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9" name="Image 1" descr="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90779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761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+ Python cleaning pipeline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3" name="Image 2" descr="icons/monito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776472"/>
            <a:ext cx="265176" cy="265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630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Build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development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46320"/>
            <a:ext cx="50292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0080" y="5029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53218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 ·  Python  ·  Tableau Public  </a:t>
            </a:r>
            <a:r>
              <a:rPr lang="en-US" sz="1300" dirty="0" smtClean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0" y="137160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0B3D3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720840" y="1645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do differently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6720840" y="235915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995160" y="217627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one cleaning script earlier — we had two versions diverge mid-week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720840" y="341071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995160" y="322783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dashboard footnotes for filtered/excluded data from the start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720840" y="446227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995160" y="427939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cross-visual filtering into the dashboard, not just quick filters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11 · Data Visualization Trainee Internship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59346" y="632691"/>
            <a:ext cx="5029200" cy="5029200"/>
          </a:xfrm>
          <a:prstGeom prst="ellipse">
            <a:avLst/>
          </a:prstGeom>
          <a:solidFill>
            <a:srgbClr val="11524C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944141" y="135382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3" name="Text 7"/>
          <p:cNvSpPr txBox="1"/>
          <p:nvPr/>
        </p:nvSpPr>
        <p:spPr>
          <a:xfrm>
            <a:off x="1313595" y="217678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11 · Data Visualization Trainee Internship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1123</Words>
  <Application>Microsoft Office PowerPoint</Application>
  <PresentationFormat>Widescreen</PresentationFormat>
  <Paragraphs>222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2026-10-03T20:26:08Z</dcterms:created>
  <dcterms:modified xsi:type="dcterms:W3CDTF">2026-10-04T11:02:22Z</dcterms:modified>
</cp:coreProperties>
</file>